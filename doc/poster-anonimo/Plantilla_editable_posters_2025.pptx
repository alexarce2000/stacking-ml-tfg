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12192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84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" roundtripDataSignature="AMtx7mg8W6vZ5I5iIq9XL7j7oRnYRP9M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39AAAA-E70A-46FF-89B2-95C5C7D1B06D}">
  <a:tblStyle styleId="{4F39AAAA-E70A-46FF-89B2-95C5C7D1B06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88"/>
    <p:restoredTop sz="94703"/>
  </p:normalViewPr>
  <p:slideViewPr>
    <p:cSldViewPr snapToGrid="0">
      <p:cViewPr>
        <p:scale>
          <a:sx n="98" d="100"/>
          <a:sy n="98" d="100"/>
        </p:scale>
        <p:origin x="1404" y="-3588"/>
      </p:cViewPr>
      <p:guideLst>
        <p:guide orient="horz" pos="384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463800" y="685800"/>
            <a:ext cx="1930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3800" y="685800"/>
            <a:ext cx="1930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514351" y="3787428"/>
            <a:ext cx="5829300" cy="2613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028700" y="6908800"/>
            <a:ext cx="4800600" cy="3115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342900" y="11300182"/>
            <a:ext cx="16002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2343151" y="11300182"/>
            <a:ext cx="21717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4914900" y="11300182"/>
            <a:ext cx="16002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42900" y="488245"/>
            <a:ext cx="61722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42900" y="2844803"/>
            <a:ext cx="6172200" cy="80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342900" y="11300182"/>
            <a:ext cx="16002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2343151" y="11300182"/>
            <a:ext cx="21717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4914900" y="11300182"/>
            <a:ext cx="16002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41735" y="7834489"/>
            <a:ext cx="5829300" cy="242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41735" y="5167494"/>
            <a:ext cx="5829300" cy="266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342900" y="11300182"/>
            <a:ext cx="16002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2343151" y="11300182"/>
            <a:ext cx="21717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4914900" y="11300182"/>
            <a:ext cx="16002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42900" y="488245"/>
            <a:ext cx="61722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257178" y="3793070"/>
            <a:ext cx="2257425" cy="10727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800"/>
            </a:lvl1pPr>
            <a:lvl2pPr marL="914400" lvl="1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2400"/>
            </a:lvl2pPr>
            <a:lvl3pPr marL="1371600" lvl="2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3pPr>
            <a:lvl4pPr marL="1828800" lvl="3" indent="-31432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800"/>
            </a:lvl4pPr>
            <a:lvl5pPr marL="2286000" lvl="4" indent="-31432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800"/>
            </a:lvl5pPr>
            <a:lvl6pPr marL="2743200" lvl="5" indent="-31432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800"/>
            </a:lvl6pPr>
            <a:lvl7pPr marL="3200400" lvl="6" indent="-31432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800"/>
            </a:lvl7pPr>
            <a:lvl8pPr marL="3657600" lvl="7" indent="-31432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800"/>
            </a:lvl8pPr>
            <a:lvl9pPr marL="4114800" lvl="8" indent="-31432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2628902" y="3793070"/>
            <a:ext cx="2257425" cy="10727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800"/>
            </a:lvl1pPr>
            <a:lvl2pPr marL="914400" lvl="1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2400"/>
            </a:lvl2pPr>
            <a:lvl3pPr marL="1371600" lvl="2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3pPr>
            <a:lvl4pPr marL="1828800" lvl="3" indent="-31432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800"/>
            </a:lvl4pPr>
            <a:lvl5pPr marL="2286000" lvl="4" indent="-31432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800"/>
            </a:lvl5pPr>
            <a:lvl6pPr marL="2743200" lvl="5" indent="-31432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800"/>
            </a:lvl6pPr>
            <a:lvl7pPr marL="3200400" lvl="6" indent="-31432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800"/>
            </a:lvl7pPr>
            <a:lvl8pPr marL="3657600" lvl="7" indent="-31432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800"/>
            </a:lvl8pPr>
            <a:lvl9pPr marL="4114800" lvl="8" indent="-31432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342900" y="11300182"/>
            <a:ext cx="16002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2343151" y="11300182"/>
            <a:ext cx="21717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4914900" y="11300182"/>
            <a:ext cx="16002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342900" y="488245"/>
            <a:ext cx="61722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342900" y="2729089"/>
            <a:ext cx="3030141" cy="1137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342900" y="3866444"/>
            <a:ext cx="3030141" cy="7024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1pPr>
            <a:lvl2pPr marL="914400" lvl="1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2000"/>
            </a:lvl2pPr>
            <a:lvl3pPr marL="1371600" lvl="2" indent="-31432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800"/>
            </a:lvl3pPr>
            <a:lvl4pPr marL="1828800" lvl="3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600"/>
            </a:lvl4pPr>
            <a:lvl5pPr marL="2286000" lvl="4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600"/>
            </a:lvl5pPr>
            <a:lvl6pPr marL="2743200" lvl="5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600"/>
            </a:lvl6pPr>
            <a:lvl7pPr marL="3200400" lvl="6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600"/>
            </a:lvl7pPr>
            <a:lvl8pPr marL="3657600" lvl="7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600"/>
            </a:lvl8pPr>
            <a:lvl9pPr marL="4114800" lvl="8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3483769" y="2729089"/>
            <a:ext cx="3031331" cy="1137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3483769" y="3866444"/>
            <a:ext cx="3031331" cy="7024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1pPr>
            <a:lvl2pPr marL="914400" lvl="1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2000"/>
            </a:lvl2pPr>
            <a:lvl3pPr marL="1371600" lvl="2" indent="-31432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800"/>
            </a:lvl3pPr>
            <a:lvl4pPr marL="1828800" lvl="3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600"/>
            </a:lvl4pPr>
            <a:lvl5pPr marL="2286000" lvl="4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600"/>
            </a:lvl5pPr>
            <a:lvl6pPr marL="2743200" lvl="5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600"/>
            </a:lvl6pPr>
            <a:lvl7pPr marL="3200400" lvl="6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600"/>
            </a:lvl7pPr>
            <a:lvl8pPr marL="3657600" lvl="7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600"/>
            </a:lvl8pPr>
            <a:lvl9pPr marL="4114800" lvl="8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342900" y="11300182"/>
            <a:ext cx="16002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2343151" y="11300182"/>
            <a:ext cx="21717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4914900" y="11300182"/>
            <a:ext cx="16002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342900" y="488245"/>
            <a:ext cx="61722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342900" y="11300182"/>
            <a:ext cx="16002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2343151" y="11300182"/>
            <a:ext cx="21717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4914900" y="11300182"/>
            <a:ext cx="16002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342901" y="485424"/>
            <a:ext cx="2256235" cy="2065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2681287" y="485426"/>
            <a:ext cx="3833813" cy="10405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914400" lvl="1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800"/>
            </a:lvl2pPr>
            <a:lvl3pPr marL="1371600" lvl="2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1828800" lvl="3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2000"/>
            </a:lvl4pPr>
            <a:lvl5pPr marL="2286000" lvl="4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2000"/>
            </a:lvl5pPr>
            <a:lvl6pPr marL="2743200" lvl="5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6pPr>
            <a:lvl7pPr marL="3200400" lvl="6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7pPr>
            <a:lvl8pPr marL="3657600" lvl="7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8pPr>
            <a:lvl9pPr marL="4114800" lvl="8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342901" y="2551291"/>
            <a:ext cx="2256235" cy="8339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342900" y="11300182"/>
            <a:ext cx="16002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2343151" y="11300182"/>
            <a:ext cx="21717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4914900" y="11300182"/>
            <a:ext cx="16002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1344216" y="8534403"/>
            <a:ext cx="4114800" cy="1007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344216" y="1089377"/>
            <a:ext cx="4114800" cy="7315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1344216" y="9541938"/>
            <a:ext cx="4114800" cy="143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342900" y="11300182"/>
            <a:ext cx="16002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2343151" y="11300182"/>
            <a:ext cx="21717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4914900" y="11300182"/>
            <a:ext cx="16002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342900" y="488245"/>
            <a:ext cx="61722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-594077" y="3781780"/>
            <a:ext cx="8046156" cy="61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342900" y="11300182"/>
            <a:ext cx="16002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2343151" y="11300182"/>
            <a:ext cx="21717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4914900" y="11300182"/>
            <a:ext cx="16002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-2626519" y="7007491"/>
            <a:ext cx="13868400" cy="1157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4998243" y="5907353"/>
            <a:ext cx="13868400" cy="3357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342900" y="11300182"/>
            <a:ext cx="16002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2343151" y="11300182"/>
            <a:ext cx="21717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4914900" y="11300182"/>
            <a:ext cx="16002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342900" y="488245"/>
            <a:ext cx="617220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342900" y="2844803"/>
            <a:ext cx="6172200" cy="80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342900" y="11300182"/>
            <a:ext cx="16002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2343151" y="11300182"/>
            <a:ext cx="21717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4914900" y="11300182"/>
            <a:ext cx="1600200" cy="649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>
            <p:extLst>
              <p:ext uri="{D42A27DB-BD31-4B8C-83A1-F6EECF244321}">
                <p14:modId xmlns:p14="http://schemas.microsoft.com/office/powerpoint/2010/main" val="3443026677"/>
              </p:ext>
            </p:extLst>
          </p:nvPr>
        </p:nvGraphicFramePr>
        <p:xfrm>
          <a:off x="108199" y="1906102"/>
          <a:ext cx="6569583" cy="1463040"/>
        </p:xfrm>
        <a:graphic>
          <a:graphicData uri="http://schemas.openxmlformats.org/drawingml/2006/table">
            <a:tbl>
              <a:tblPr>
                <a:noFill/>
                <a:tableStyleId>{4F39AAAA-E70A-46FF-89B2-95C5C7D1B06D}</a:tableStyleId>
              </a:tblPr>
              <a:tblGrid>
                <a:gridCol w="6569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21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ES" sz="24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 de variables determinantes en el riesgo de incendios forestales: Un enfoque basado en datos geoespaciales y el uso de SHAP como técnica de XAI </a:t>
                      </a:r>
                      <a:endParaRPr lang="es-ES" sz="2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89525" marR="8952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6" name="Google Shape;86;p1"/>
          <p:cNvSpPr/>
          <p:nvPr/>
        </p:nvSpPr>
        <p:spPr>
          <a:xfrm>
            <a:off x="108199" y="3610905"/>
            <a:ext cx="6569583" cy="1107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predicción de incendios forestales es compleja por la interacción de múltiples factores. Este estudio aplica XAI sobre un modelo </a:t>
            </a:r>
            <a:r>
              <a:rPr lang="es-ES" sz="16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stacking</a:t>
            </a:r>
            <a:r>
              <a:rPr lang="es-ES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para identificar las variables más influyentes en el riesgo en el departamento de Cordillera.</a:t>
            </a:r>
            <a:endParaRPr lang="es-ES"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332650" y="3361170"/>
            <a:ext cx="6120680" cy="3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Introducción</a:t>
            </a:r>
            <a:endParaRPr sz="2489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n 4" descr="Imagen que contiene Rectángulo&#10;&#10;Descripción generada automáticamente">
            <a:extLst>
              <a:ext uri="{FF2B5EF4-FFF2-40B4-BE49-F238E27FC236}">
                <a16:creationId xmlns:a16="http://schemas.microsoft.com/office/drawing/2014/main" id="{ED7F8DD9-C52C-2541-8293-BB85A88D7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" y="10763250"/>
            <a:ext cx="6858000" cy="1428750"/>
          </a:xfrm>
          <a:prstGeom prst="rect">
            <a:avLst/>
          </a:prstGeom>
        </p:spPr>
      </p:pic>
      <p:pic>
        <p:nvPicPr>
          <p:cNvPr id="4" name="Imagen 3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D77CA836-3836-BA72-EDE2-DA86956DBD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858000" cy="1821656"/>
          </a:xfrm>
          <a:prstGeom prst="rect">
            <a:avLst/>
          </a:prstGeom>
        </p:spPr>
      </p:pic>
      <p:sp>
        <p:nvSpPr>
          <p:cNvPr id="8" name="Google Shape;87;p1">
            <a:extLst>
              <a:ext uri="{FF2B5EF4-FFF2-40B4-BE49-F238E27FC236}">
                <a16:creationId xmlns:a16="http://schemas.microsoft.com/office/drawing/2014/main" id="{3EBC3657-B4E8-38D5-79D3-2F9C0BBC7DDD}"/>
              </a:ext>
            </a:extLst>
          </p:cNvPr>
          <p:cNvSpPr/>
          <p:nvPr/>
        </p:nvSpPr>
        <p:spPr>
          <a:xfrm>
            <a:off x="108199" y="4543650"/>
            <a:ext cx="2805463" cy="3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Objetivo</a:t>
            </a:r>
            <a:endParaRPr sz="2489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86;p1">
            <a:extLst>
              <a:ext uri="{FF2B5EF4-FFF2-40B4-BE49-F238E27FC236}">
                <a16:creationId xmlns:a16="http://schemas.microsoft.com/office/drawing/2014/main" id="{FD47AFD3-E3EF-D1CA-07FE-9A3EA4CC6A97}"/>
              </a:ext>
            </a:extLst>
          </p:cNvPr>
          <p:cNvSpPr/>
          <p:nvPr/>
        </p:nvSpPr>
        <p:spPr>
          <a:xfrm>
            <a:off x="108200" y="4774544"/>
            <a:ext cx="3320797" cy="135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Identificar y cuantificar el impacto de las variables clave en focos de calor, aplicando XAI para interpretar las predicciones del </a:t>
            </a:r>
            <a:r>
              <a:rPr lang="es-ES" sz="1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</a:t>
            </a:r>
            <a:r>
              <a:rPr lang="es-ES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Forest, el modelo principal del </a:t>
            </a:r>
            <a:r>
              <a:rPr lang="es-ES" sz="1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stacking</a:t>
            </a:r>
            <a:r>
              <a:rPr lang="es-ES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12" name="Google Shape;87;p1">
            <a:extLst>
              <a:ext uri="{FF2B5EF4-FFF2-40B4-BE49-F238E27FC236}">
                <a16:creationId xmlns:a16="http://schemas.microsoft.com/office/drawing/2014/main" id="{D137A52D-80BB-048B-F9D4-08B3ED86B3F1}"/>
              </a:ext>
            </a:extLst>
          </p:cNvPr>
          <p:cNvSpPr/>
          <p:nvPr/>
        </p:nvSpPr>
        <p:spPr>
          <a:xfrm>
            <a:off x="3392990" y="4531610"/>
            <a:ext cx="2805463" cy="3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Metodología</a:t>
            </a:r>
            <a:endParaRPr sz="2489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86;p1">
            <a:extLst>
              <a:ext uri="{FF2B5EF4-FFF2-40B4-BE49-F238E27FC236}">
                <a16:creationId xmlns:a16="http://schemas.microsoft.com/office/drawing/2014/main" id="{8A8E8FA4-7BD7-4663-A08B-962A8BA618E3}"/>
              </a:ext>
            </a:extLst>
          </p:cNvPr>
          <p:cNvSpPr/>
          <p:nvPr/>
        </p:nvSpPr>
        <p:spPr>
          <a:xfrm>
            <a:off x="3356985" y="4780292"/>
            <a:ext cx="3320797" cy="1600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 entrenó un modelo </a:t>
            </a:r>
            <a:r>
              <a:rPr lang="es-ES" sz="1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stacking</a:t>
            </a:r>
            <a:r>
              <a:rPr lang="es-ES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con </a:t>
            </a:r>
            <a:r>
              <a:rPr lang="es-ES" sz="1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</a:t>
            </a:r>
            <a:r>
              <a:rPr lang="es-ES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Forest como líder, para predecir incendios con variables físico-ambientales (2018–2023). SHAP analizó la contribución de cada variable.</a:t>
            </a:r>
          </a:p>
        </p:txBody>
      </p:sp>
      <p:sp>
        <p:nvSpPr>
          <p:cNvPr id="15" name="Google Shape;87;p1">
            <a:extLst>
              <a:ext uri="{FF2B5EF4-FFF2-40B4-BE49-F238E27FC236}">
                <a16:creationId xmlns:a16="http://schemas.microsoft.com/office/drawing/2014/main" id="{3DC16FE7-12AA-FC21-F712-81EB0DDD3EB3}"/>
              </a:ext>
            </a:extLst>
          </p:cNvPr>
          <p:cNvSpPr/>
          <p:nvPr/>
        </p:nvSpPr>
        <p:spPr>
          <a:xfrm>
            <a:off x="1954253" y="6248046"/>
            <a:ext cx="2805463" cy="3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Resultados</a:t>
            </a:r>
            <a:endParaRPr sz="2489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86;p1">
            <a:extLst>
              <a:ext uri="{FF2B5EF4-FFF2-40B4-BE49-F238E27FC236}">
                <a16:creationId xmlns:a16="http://schemas.microsoft.com/office/drawing/2014/main" id="{BF2F686F-8CF7-C0C6-3621-9F232138BC26}"/>
              </a:ext>
            </a:extLst>
          </p:cNvPr>
          <p:cNvSpPr/>
          <p:nvPr/>
        </p:nvSpPr>
        <p:spPr>
          <a:xfrm>
            <a:off x="180212" y="6530416"/>
            <a:ext cx="6497570" cy="861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 reveló que humedad baja, bajo NDVI y la cobertura tipo 11.0 elevan el riesgo de incendio, mientras valores altos de humedad y NDVI lo reducen.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77A9E3C-312F-F98B-6601-F1C0C178FD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38" y="7311031"/>
            <a:ext cx="2710924" cy="2159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4DC7029-C747-05A6-CFB6-AFF4EF412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441" y="7253918"/>
            <a:ext cx="2581012" cy="2159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Google Shape;87;p1">
            <a:extLst>
              <a:ext uri="{FF2B5EF4-FFF2-40B4-BE49-F238E27FC236}">
                <a16:creationId xmlns:a16="http://schemas.microsoft.com/office/drawing/2014/main" id="{60F2EC79-FEC2-89BC-D535-6D6B86A2118B}"/>
              </a:ext>
            </a:extLst>
          </p:cNvPr>
          <p:cNvSpPr/>
          <p:nvPr/>
        </p:nvSpPr>
        <p:spPr>
          <a:xfrm>
            <a:off x="1954253" y="9371003"/>
            <a:ext cx="2805463" cy="36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Conclusión</a:t>
            </a:r>
            <a:endParaRPr sz="2489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86;p1">
            <a:extLst>
              <a:ext uri="{FF2B5EF4-FFF2-40B4-BE49-F238E27FC236}">
                <a16:creationId xmlns:a16="http://schemas.microsoft.com/office/drawing/2014/main" id="{84D4BFCA-E18D-0012-0BA2-CED584313C07}"/>
              </a:ext>
            </a:extLst>
          </p:cNvPr>
          <p:cNvSpPr/>
          <p:nvPr/>
        </p:nvSpPr>
        <p:spPr>
          <a:xfrm>
            <a:off x="180212" y="9623330"/>
            <a:ext cx="6497570" cy="1107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riesgo de incendio está principalmente asociado a baja humedad, escasa precipitación y NDVI reducido. SHAP aporta interpretabilidad al modelo, facilitando la focalización de medidas preventivas en variables y coberturas críticas.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191</Words>
  <Application>Microsoft Office PowerPoint</Application>
  <PresentationFormat>Panorámica</PresentationFormat>
  <Paragraphs>11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Paci</dc:creator>
  <cp:lastModifiedBy>alexisroarce2000@gmail.com</cp:lastModifiedBy>
  <cp:revision>4</cp:revision>
  <dcterms:created xsi:type="dcterms:W3CDTF">2022-10-28T14:24:45Z</dcterms:created>
  <dcterms:modified xsi:type="dcterms:W3CDTF">2025-09-26T01:23:02Z</dcterms:modified>
</cp:coreProperties>
</file>